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60" r:id="rId4"/>
    <p:sldId id="261" r:id="rId5"/>
    <p:sldId id="262" r:id="rId6"/>
    <p:sldId id="263" r:id="rId7"/>
    <p:sldId id="264" r:id="rId8"/>
    <p:sldId id="265" r:id="rId9"/>
  </p:sldIdLst>
  <p:sldSz cx="9144000" cy="5143500" type="screen16x9"/>
  <p:notesSz cx="5143500" cy="9144000"/>
  <p:embeddedFontLst>
    <p:embeddedFont>
      <p:font typeface="Calibri" pitchFamily="34" charset="0"/>
      <p:regular r:id="rId11"/>
      <p:bold r:id="rId12"/>
      <p:italic r:id="rId13"/>
      <p:boldItalic r:id="rId14"/>
    </p:embeddedFont>
    <p:embeddedFont>
      <p:font typeface="Barlow Medium" charset="0"/>
      <p:regular r:id="rId15"/>
    </p:embeddedFont>
    <p:embeddedFont>
      <p:font typeface="Barlow" charset="0"/>
      <p:regular r:id="rId16"/>
    </p:embeddedFont>
    <p:embeddedFont>
      <p:font typeface="Barlow Bold" charset="0"/>
      <p:regular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8" d="100"/>
          <a:sy n="108" d="100"/>
        </p:scale>
        <p:origin x="-276" y="-19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384136-83E6-4C16-9585-DC21DA046C00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A2139C-EDED-48C3-A121-EBA360D93B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278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91718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7" Type="http://schemas.openxmlformats.org/officeDocument/2006/relationships/image" Target="../media/image-10-3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-10-3.svg"/><Relationship Id="rId4" Type="http://schemas.openxmlformats.org/officeDocument/2006/relationships/image" Target="../media/image11.png"/><Relationship Id="rId9" Type="http://schemas.openxmlformats.org/officeDocument/2006/relationships/image" Target="../media/image-10-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 rotWithShape="1">
          <a:blip r:embed="rId3"/>
          <a:srcRect b="26324"/>
          <a:stretch/>
        </p:blipFill>
        <p:spPr>
          <a:xfrm>
            <a:off x="-1" y="0"/>
            <a:ext cx="4654211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54210" y="1440902"/>
            <a:ext cx="4489790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Customer Shopping Behavior</a:t>
            </a:r>
            <a:endParaRPr lang="en-US" sz="2700" dirty="0"/>
          </a:p>
        </p:txBody>
      </p:sp>
      <p:sp>
        <p:nvSpPr>
          <p:cNvPr id="5" name="Oval 4"/>
          <p:cNvSpPr/>
          <p:nvPr/>
        </p:nvSpPr>
        <p:spPr>
          <a:xfrm>
            <a:off x="7948246" y="4835769"/>
            <a:ext cx="1195754" cy="31652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8018585" y="4835769"/>
            <a:ext cx="11254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Dibyajyoti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0023" y="845195"/>
            <a:ext cx="8063954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Data Overview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001870" y="1659507"/>
            <a:ext cx="2559397" cy="5092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0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3,900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3099420" y="2361851"/>
            <a:ext cx="2559397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Records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044580" y="1659508"/>
            <a:ext cx="2559397" cy="5092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0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$59.76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6044580" y="2361530"/>
            <a:ext cx="2559397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Avg Purchase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40023" y="1675616"/>
            <a:ext cx="2559397" cy="5092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0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3.75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636463" y="2361851"/>
            <a:ext cx="2559397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Avg Rating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292301" y="2961531"/>
            <a:ext cx="2559397" cy="5092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0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25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3292301" y="3646427"/>
            <a:ext cx="2559397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Avg Previous Purchases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40023" y="4051399"/>
            <a:ext cx="8521154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Age range: </a:t>
            </a:r>
            <a:r>
              <a:rPr lang="en-US" sz="1200" b="1" dirty="0">
                <a:solidFill>
                  <a:srgbClr val="E5E0D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18–70</a:t>
            </a:r>
            <a:r>
              <a:rPr lang="en-US" sz="12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· Purchase amount: </a:t>
            </a:r>
            <a:r>
              <a:rPr lang="en-US" sz="1200" b="1" dirty="0">
                <a:solidFill>
                  <a:srgbClr val="E5E0D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$20–$</a:t>
            </a:r>
            <a:r>
              <a:rPr lang="en-US" sz="1200" b="1" dirty="0" smtClean="0">
                <a:solidFill>
                  <a:srgbClr val="E5E0D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100</a:t>
            </a:r>
            <a:endParaRPr lang="en-US" sz="1200" dirty="0"/>
          </a:p>
        </p:txBody>
      </p:sp>
      <p:sp>
        <p:nvSpPr>
          <p:cNvPr id="14" name="Oval 13"/>
          <p:cNvSpPr/>
          <p:nvPr/>
        </p:nvSpPr>
        <p:spPr>
          <a:xfrm>
            <a:off x="7948246" y="4826977"/>
            <a:ext cx="1195754" cy="31652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8018585" y="4826977"/>
            <a:ext cx="11254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Dibyajyoti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0023" y="684833"/>
            <a:ext cx="8063954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Revenue by Gender</a:t>
            </a:r>
            <a:endParaRPr lang="en-US" sz="2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023" y="1518419"/>
            <a:ext cx="3843784" cy="276671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64956" y="1499146"/>
            <a:ext cx="384378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Key Finding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64956" y="1867719"/>
            <a:ext cx="3843784" cy="493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Male customers generated </a:t>
            </a:r>
            <a:r>
              <a:rPr lang="en-US" sz="1200" b="1" dirty="0">
                <a:solidFill>
                  <a:srgbClr val="F65F62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$157,890</a:t>
            </a:r>
            <a:r>
              <a:rPr lang="en-US" sz="12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— over </a:t>
            </a:r>
            <a:r>
              <a:rPr lang="en-US" sz="1200" b="1" dirty="0">
                <a:solidFill>
                  <a:srgbClr val="E5E0D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2× more</a:t>
            </a:r>
            <a:r>
              <a:rPr lang="en-US" sz="12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than female customers ($75,191)</a:t>
            </a:r>
            <a:endParaRPr lang="en-US" sz="1200" dirty="0"/>
          </a:p>
        </p:txBody>
      </p:sp>
      <p:sp>
        <p:nvSpPr>
          <p:cNvPr id="6" name="Oval 5"/>
          <p:cNvSpPr/>
          <p:nvPr/>
        </p:nvSpPr>
        <p:spPr>
          <a:xfrm>
            <a:off x="7948246" y="4826977"/>
            <a:ext cx="1195754" cy="31652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8018585" y="4826977"/>
            <a:ext cx="11254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Dibyajyoti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0023" y="684833"/>
            <a:ext cx="8063954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Subscription &amp; Shipping Insights</a:t>
            </a:r>
            <a:endParaRPr lang="en-US" sz="2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023" y="1518419"/>
            <a:ext cx="3843784" cy="276671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64956" y="1499146"/>
            <a:ext cx="384378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Subscriptions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64956" y="1867719"/>
            <a:ext cx="3843784" cy="7407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Avg spend nearly identical — subscribers </a:t>
            </a:r>
            <a:r>
              <a:rPr lang="en-US" sz="1200" b="1" dirty="0">
                <a:solidFill>
                  <a:srgbClr val="E5E0D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not</a:t>
            </a:r>
            <a:r>
              <a:rPr lang="en-US" sz="12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spending more. Non-subscribers: 2,847 customers ($170K revenue) vs. subscribers: 1,053 ($62K).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764956" y="2762696"/>
            <a:ext cx="384378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Shipping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764956" y="3131269"/>
            <a:ext cx="3843784" cy="493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Express avg: </a:t>
            </a:r>
            <a:r>
              <a:rPr lang="en-US" sz="1200" b="1" dirty="0">
                <a:solidFill>
                  <a:srgbClr val="E5E0D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$60.48</a:t>
            </a:r>
            <a:r>
              <a:rPr lang="en-US" sz="12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vs. Standard: </a:t>
            </a:r>
            <a:r>
              <a:rPr lang="en-US" sz="1200" b="1" dirty="0">
                <a:solidFill>
                  <a:srgbClr val="E5E0D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$58.46</a:t>
            </a:r>
            <a:r>
              <a:rPr lang="en-US" sz="12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— minimal difference.</a:t>
            </a:r>
            <a:endParaRPr lang="en-US" sz="1200" dirty="0"/>
          </a:p>
        </p:txBody>
      </p:sp>
      <p:sp>
        <p:nvSpPr>
          <p:cNvPr id="8" name="Oval 7"/>
          <p:cNvSpPr/>
          <p:nvPr/>
        </p:nvSpPr>
        <p:spPr>
          <a:xfrm>
            <a:off x="7948246" y="4826977"/>
            <a:ext cx="1195754" cy="31652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8018585" y="4826977"/>
            <a:ext cx="11254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Dibyajyoti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0023" y="500509"/>
            <a:ext cx="8063954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Top Products by Rating &amp; Discount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0023" y="1314822"/>
            <a:ext cx="384378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Top 5 by Avg Rating</a:t>
            </a:r>
            <a:endParaRPr lang="en-US" sz="13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023" y="1702668"/>
            <a:ext cx="3843784" cy="27667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764956" y="1314822"/>
            <a:ext cx="384378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Top 5 by Discount %</a:t>
            </a:r>
            <a:endParaRPr lang="en-US" sz="13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4956" y="1702668"/>
            <a:ext cx="3843784" cy="2766715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7948246" y="4826977"/>
            <a:ext cx="1195754" cy="31652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8018585" y="4826977"/>
            <a:ext cx="11254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Dibyajyoti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0023" y="684833"/>
            <a:ext cx="8063954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Customer Segments &amp; Repeat Buyers</a:t>
            </a:r>
            <a:endParaRPr lang="en-US" sz="2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023" y="1518419"/>
            <a:ext cx="3843784" cy="276671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64956" y="1499146"/>
            <a:ext cx="384378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Segments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64956" y="1867719"/>
            <a:ext cx="3843784" cy="493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Loyal: </a:t>
            </a:r>
            <a:r>
              <a:rPr lang="en-US" sz="1200" b="1" dirty="0">
                <a:solidFill>
                  <a:srgbClr val="E5E0D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3,116</a:t>
            </a:r>
            <a:r>
              <a:rPr lang="en-US" sz="12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(11+ purchases) · Returning: </a:t>
            </a:r>
            <a:r>
              <a:rPr lang="en-US" sz="1200" b="1" dirty="0">
                <a:solidFill>
                  <a:srgbClr val="E5E0D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701</a:t>
            </a:r>
            <a:r>
              <a:rPr lang="en-US" sz="12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(2–10) · New: </a:t>
            </a:r>
            <a:r>
              <a:rPr lang="en-US" sz="1200" b="1" dirty="0">
                <a:solidFill>
                  <a:srgbClr val="E5E0D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83</a:t>
            </a:r>
            <a:r>
              <a:rPr lang="en-US" sz="12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(1 purchase)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764956" y="2515791"/>
            <a:ext cx="384378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Repeat Buyers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764956" y="2884363"/>
            <a:ext cx="3843784" cy="7407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Of customers with </a:t>
            </a:r>
            <a:r>
              <a:rPr lang="en-US" sz="1200" b="1" dirty="0">
                <a:solidFill>
                  <a:srgbClr val="E5E0D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5+ purchases</a:t>
            </a:r>
            <a:r>
              <a:rPr lang="en-US" sz="12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: 2,518 non-subscribers vs. 958 subscribers — repeat buyers </a:t>
            </a:r>
            <a:r>
              <a:rPr lang="en-US" sz="1200" b="1" dirty="0">
                <a:solidFill>
                  <a:srgbClr val="E5E0D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not</a:t>
            </a:r>
            <a:r>
              <a:rPr lang="en-US" sz="12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more likely to subscribe.</a:t>
            </a:r>
            <a:endParaRPr lang="en-US" sz="1200" dirty="0"/>
          </a:p>
        </p:txBody>
      </p:sp>
      <p:sp>
        <p:nvSpPr>
          <p:cNvPr id="8" name="Oval 7"/>
          <p:cNvSpPr/>
          <p:nvPr/>
        </p:nvSpPr>
        <p:spPr>
          <a:xfrm>
            <a:off x="7948246" y="4826977"/>
            <a:ext cx="1195754" cy="31652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8018585" y="4826977"/>
            <a:ext cx="11254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Dibyajyoti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0023" y="684833"/>
            <a:ext cx="8063954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Revenue by Age Group &amp; Top Products</a:t>
            </a:r>
            <a:endParaRPr lang="en-US" sz="2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023" y="1518419"/>
            <a:ext cx="3843784" cy="276671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64956" y="1499146"/>
            <a:ext cx="384378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Age Groups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64956" y="1867719"/>
            <a:ext cx="3843784" cy="493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Young Adults lead revenue at </a:t>
            </a:r>
            <a:r>
              <a:rPr lang="en-US" sz="1200" b="1" dirty="0">
                <a:solidFill>
                  <a:srgbClr val="E5E0D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$62,143</a:t>
            </a:r>
            <a:r>
              <a:rPr lang="en-US" sz="12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. Distribution is relatively balanced across all four groups.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764956" y="2515791"/>
            <a:ext cx="384378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Top Products by Category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764956" y="2884363"/>
            <a:ext cx="3843784" cy="7407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Clothing: Blouse, Pants, Shirt · Footwear: Sandals, Shoes, Sneakers · Outerwear: Jacket, Coat · Accessories: Jewelry, Sunglasses, Belt</a:t>
            </a:r>
            <a:endParaRPr lang="en-US" sz="1200" dirty="0"/>
          </a:p>
        </p:txBody>
      </p:sp>
      <p:sp>
        <p:nvSpPr>
          <p:cNvPr id="8" name="Oval 7"/>
          <p:cNvSpPr/>
          <p:nvPr/>
        </p:nvSpPr>
        <p:spPr>
          <a:xfrm>
            <a:off x="7948246" y="4826977"/>
            <a:ext cx="1195754" cy="31652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8018585" y="4826977"/>
            <a:ext cx="11254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Dibyajyoti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0023" y="444252"/>
            <a:ext cx="4634954" cy="3951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dirty="0" smtClean="0">
                <a:solidFill>
                  <a:srgbClr val="FFFFF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Recommendations</a:t>
            </a:r>
            <a:endParaRPr lang="en-US" sz="24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0892" y="938339"/>
            <a:ext cx="4634954" cy="81743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60247" y="1240351"/>
            <a:ext cx="4236244" cy="197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Target Males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660247" y="1446157"/>
            <a:ext cx="4236244" cy="218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Highest revenue — focus marketing here</a:t>
            </a:r>
            <a:endParaRPr lang="en-US" sz="11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0892" y="2115741"/>
            <a:ext cx="4634954" cy="81743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60247" y="2232788"/>
            <a:ext cx="4236244" cy="197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Convert Loyal Buyers</a:t>
            </a: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660247" y="2524459"/>
            <a:ext cx="4236244" cy="218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3,116 loyal customers — push subscriptions</a:t>
            </a:r>
            <a:endParaRPr lang="en-US" sz="11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60892" y="3346248"/>
            <a:ext cx="4634954" cy="81743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60247" y="3445113"/>
            <a:ext cx="4236244" cy="197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Barlow Medium" pitchFamily="34" charset="0"/>
                <a:ea typeface="Barlow Medium" pitchFamily="34" charset="-122"/>
                <a:cs typeface="Barlow Medium" pitchFamily="34" charset="-120"/>
              </a:rPr>
              <a:t>Acquire New Customers</a:t>
            </a:r>
            <a:endParaRPr lang="en-US" sz="1200" dirty="0"/>
          </a:p>
        </p:txBody>
      </p:sp>
      <p:sp>
        <p:nvSpPr>
          <p:cNvPr id="15" name="Text 8"/>
          <p:cNvSpPr/>
          <p:nvPr/>
        </p:nvSpPr>
        <p:spPr>
          <a:xfrm>
            <a:off x="660247" y="3754967"/>
            <a:ext cx="4236244" cy="218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Only 83 new — invest in acquisition</a:t>
            </a:r>
            <a:endParaRPr lang="en-US" sz="1100" dirty="0"/>
          </a:p>
        </p:txBody>
      </p:sp>
      <p:sp>
        <p:nvSpPr>
          <p:cNvPr id="16" name="Oval 15"/>
          <p:cNvSpPr/>
          <p:nvPr/>
        </p:nvSpPr>
        <p:spPr>
          <a:xfrm>
            <a:off x="7948246" y="4826977"/>
            <a:ext cx="1195754" cy="31652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8018585" y="4826977"/>
            <a:ext cx="11254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Dibyajyoti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270</Words>
  <Application>Microsoft Office PowerPoint</Application>
  <PresentationFormat>On-screen Show (16:9)</PresentationFormat>
  <Paragraphs>55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Barlow Medium</vt:lpstr>
      <vt:lpstr>Barlow</vt:lpstr>
      <vt:lpstr>Barlow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ismail - [2010]</cp:lastModifiedBy>
  <cp:revision>3</cp:revision>
  <dcterms:created xsi:type="dcterms:W3CDTF">2026-07-28T18:31:08Z</dcterms:created>
  <dcterms:modified xsi:type="dcterms:W3CDTF">2026-07-29T18:20:05Z</dcterms:modified>
</cp:coreProperties>
</file>